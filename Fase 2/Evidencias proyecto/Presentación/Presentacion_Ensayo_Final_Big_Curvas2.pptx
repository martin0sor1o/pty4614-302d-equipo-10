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czRqqFXqXhWcPkHgv25x+sT1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Martín · ~0:10. Saludo y presentación del equipo y del proyecto en una frase: sistema de inventario, punto de venta y pedidos online para Big Curvas.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Martín · ~0:40.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Big Curvas vende en una tienda en Rancagua y por Instagram; hoy todo se lleva en Excel.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Dolor: lo online descuenta de la tienda sin control (prendas vendidas dos veces), y los traslados entre tienda y bodega no quedan registrados.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Afectados: Belén, las vendedoras y las clientas.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solución responde punto por punto: inventario por ubicación, pedidos desde bodega y traslados con recepción confirmada.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Alcance validado con la clienta el 2/10: una tienda, una bodega (casa de Belén) e Instagram. Fuente: docs 01 y acta del 2/10.</a:t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Martín · ~0:40.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Trabajamos con metodología tradicional: levantamiento, diseño, desarrollo, pruebas y cierre; no se empieza una etapa sin cerrar la anterior.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 desarrollo se hizo en 7 etapas de demo; llevamos 5 terminadas (cada etapa con plan, aprobación, pruebas y revisión).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Roles: Martín arquitectura/backend y líder; Renato calidad y pruebas; Benjamín dashboards y reportes.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Seguimiento: Gantt, reuniones con Belén, documentos versionados y registro de decisiones.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Dificultad principal: el 2/10 la clienta aclaró que hay una sola tienda, y rediseñamos el alcance (etapa 3.5).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AJUSTAR: no se afirma Kanban. Si usan una herramienta de tareas (Trello, Jira, GitHub Projects), reemplazar el [PENDIENTE]. Nota: la Guía de Fase 1 menciona Scrum; alinear el discurso.</a:t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Benjamín · ~0:40.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 un monolito modular en capas: interfaz web, módulos de negocio y una base de datos PostgreSQL.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Regla central: solo el módulo inventory (InventoryService) modifica el stock; ventas, devoluciones y pedidos se lo piden dentro de la misma transacción. La interfaz nunca toca la base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Elegimos monolito porque somos un equipo pequeño y el cliente tiene presupuesto acotado; priorizamos consistencia sobre disponibilidad.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Limitación: el POS necesita internet. Mejora: modo contingencia, boletas y tienda web sobre los mismos módulos.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docs/03_ARQUITECTURA.md §1, §4, §5.</a:t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Benjamín · ~0:35.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Backend y frontend comparten Next.js y TypeScript estricto: un solo lenguaje, tipos que evitan errores, validación con Zod.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Frontend: React con Tailwind y shadcn/ui; el POS funciona con lector de código de barras y ticket de 80 mm.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API: es interna (Server Actions); aún no hay integraciones externas, boletas, Transbank y couriers se registran a mano y quedan para después.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Base de datos: PostgreSQL con Prisma, por transacciones ACID y restricciones de integridad.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Herramientas: GitHub, Docker y Vitest (pruebas con Postgres real) en uso; Playwright, CI, hosting en Render y autenticación real están previstos.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VERIFICAR: que lo marcado 'en uso' coincida con el repositorio. Fuente: docs/03 §2 y README del repo.</a:t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Benjamín · ~0:25.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 modelo se organiza en cinco dominios; el núcleo es Inventario.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Relación central: para cada variante (talla y color) y ubicación hay un saldo en stock_levels, que siempre cuadra con la suma de inventory_movements, que solo admite INSERT.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 pedido online crea venta, reserva y, si falta en bodega, un traslado tienda → bodega.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Decisiones: dinero en pesos enteros y nada se borra físicamente. Fuente: docs/04_MODELO_DE_DATOS.md.</a:t>
            </a:r>
            <a:endParaRPr/>
          </a:p>
        </p:txBody>
      </p:sp>
      <p:sp>
        <p:nvSpPr>
          <p:cNvPr id="261" name="Google Shape;2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Benjamín · ~0:30.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Priorizamos los riesgos del dominio: consistencia del stock y control de acceso.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Implementado y probado: control de concurrencia, historial inmutable, permisos por rol y ubicación en el servidor e idempotencia.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Aprobaciones de uso único están en la etapa 6 (aún no). Autenticación real y respaldos están previstos para el sistema de producción: la demo usa ingreso simulado.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Ser claros: no se afirma que la autenticación real esté implementada.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con el repositorio: respaldos y manejo de secretos. Fuente: reglas críticas del proyecto (1–10) y docs/03 §8.</a:t>
            </a:r>
            <a:endParaRPr/>
          </a:p>
        </p:txBody>
      </p:sp>
      <p:sp>
        <p:nvSpPr>
          <p:cNvPr id="296" name="Google Shape;29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Renato · ~0:30.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 un proyecto interno para un cliente real, no un producto que se venda: el valor está en ordenar el stock y los pedidos de Big Curvas.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Valor por usuario: Belén, vendedoras y clientas.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Implementación en dos etapas: tienda + bodega, traslados y POS (~enero 2027) y pedidos online completos (~febrero 2027). Fechas estimadas, por confirmar.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Sostenibilidad: ~13 USD/mes de hosting (~$12.000–13.000 CLP), bajo el presupuesto de ~$20.000 CLP.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Crecimiento: segunda tienda (el modelo ya es multi-ubicación), tienda web, dashboards y reposición sugerida.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COMPLETAR: quién mantendrá el sistema después de la entrega. Fuentes: docs/01, docs/03 §2.1, ADR-010 y ADR-016, docs/05.</a:t>
            </a:r>
            <a:endParaRPr/>
          </a:p>
        </p:txBody>
      </p:sp>
      <p:sp>
        <p:nvSpPr>
          <p:cNvPr id="327" name="Google Shape;3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Renato · ~0:40.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Vamos en la etapa 5 de 7: inventario, POS, traslados y pedidos online funcionan en la demo; faltan aprobaciones remotas y la publicación.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Ser honestos: el acceso es simulado y los datos son de ejemplo; aún no hay dashboards, cambios y devoluciones ni etiquetado real.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Limitaciones técnicas: POS solo online, pedidos registrados a mano por Belén (sin API de Instagram), sin integración con boletas, Transbank ni couriers.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Próximos pasos: etapas 6 y 7, validar con Belén (~fines de octubre), pruebas de aceptación y pasar al sistema real (autenticación, respaldos, datos reales).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COMPLETAR: N° de pruebas automáticas actual (el 156 era de la etapa 3). VERIFICAR: que el hito 2 de la etapa 5 (apartar en tienda con traslado) esté terminado y que 'Reportes' y 'Cambios y devoluciones' estén como se indica.</a:t>
            </a:r>
            <a:endParaRPr/>
          </a:p>
        </p:txBody>
      </p:sp>
      <p:sp>
        <p:nvSpPr>
          <p:cNvPr id="360" name="Google Shape;36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Renato · ~1:00.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Mostrar la matriz de stock por ubicación y buscar una prenda por SKU o código.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Vender la última unidad en el POS (caso JMT012-AZU-48 en Rancagua), con pago en efectivo y redondeo a $10; mostrar el ticket.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Volver a Stock y mostrar que el saldo y el kardex cambiaron.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REEMPLAZAR los recuadros por capturas actuales (las de la versión anterior mostraban Providencia, que ya no existe). Alternativa: demo en vivo o video corto.</a:t>
            </a:r>
            <a:endParaRPr/>
          </a:p>
        </p:txBody>
      </p:sp>
      <p:sp>
        <p:nvSpPr>
          <p:cNvPr id="395" name="Google Shape;3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Martín · ~1:00.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Traslado: Belén envía BLM022-BUR-3XL desde la bodega; en Stock aparece 'En tránsito'; la vendedora recibe escaneando con una unidad menos y queda 'recibido con diferencias' para que Belén lo resuelva.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Pedido online: registrar un pedido de PBA041-NEG-XL (hay en bodega), confirmar el pago (se aparta en bodega), preparar escaneando y despachar con courier y N° de seguimiento.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 alcanza el tiempo, mencionar el caso de CPU053-NEG-2XL (solo en la tienda): se aparta ahí y se crea un traslado automático.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REEMPLAZAR los recuadros por capturas actuales o por demo en vivo. Fuente: prompts 05 y 06 (casos sugeridos).</a:t>
            </a:r>
            <a:endParaRPr/>
          </a:p>
        </p:txBody>
      </p:sp>
      <p:sp>
        <p:nvSpPr>
          <p:cNvPr id="419" name="Google Shape;41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EXPONE: Martín · ~0:10. Cierre en una frase: la demo ya cubre inventario, POS, traslados y pedidos online; falta aprobación remota, publicación y validar con Belén. Agradecer y abrir a preguntas.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TOTAL ESTIMADO: 7:00 (exposición ~5:00 + demo ~2:00). Martín ~2:40 · Benjamín ~1:50 · Renato ~2:10.</a:t>
            </a:r>
            <a:endParaRPr/>
          </a:p>
        </p:txBody>
      </p:sp>
      <p:sp>
        <p:nvSpPr>
          <p:cNvPr id="443" name="Google Shape;4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ENSAYO DE PRESENTACIÓN FINAL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0" y="3913632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Avance al 13 de octubre de 2026 · Etapas 1 a 5 de 7 de la demo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Equipo 10 · Sección 302D · PTY4614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74320" y="461772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Martín Osorio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Renato Espina · Benjamín Rojas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98" name="Google Shape;98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" name="Google Shape;99;p2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Problemática y contexto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Tienda de ropa en Rancagua con Instagram · 1 tienda + bodega (validado el 2/10)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48640" y="1965960"/>
            <a:ext cx="3611880" cy="214884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58368" y="201168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658368" y="2450592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Stock y ventas en Excel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 online descuenta de la tienda: prendas vendidas dos veces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Traslados sin registro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288536" y="1965960"/>
            <a:ext cx="3611880" cy="214884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398264" y="201168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Quiénes se afectan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398264" y="2450592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Belén: </a:t>
            </a: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dueña, Instagram y bodega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Vendedoras: </a:t>
            </a: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caja compartida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Clientas: </a:t>
            </a: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pedidos con errores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28431" y="1965960"/>
            <a:ext cx="3611880" cy="214884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138159" y="2011680"/>
            <a:ext cx="3429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8138159" y="2450592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Una sola fuente de verdad del stock por ubicación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flujo claro para lo online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48640" y="41879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4069080" y="41879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138160" y="4187952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548640" y="4480560"/>
            <a:ext cx="3291840" cy="5943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Prendas vendidas dos veces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3858768" y="4636008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069080" y="4480560"/>
            <a:ext cx="3840480" cy="59436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Stock en tiempo real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927848" y="4636008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138160" y="4480560"/>
            <a:ext cx="3502152" cy="594360"/>
          </a:xfrm>
          <a:prstGeom prst="roundRect">
            <a:avLst>
              <a:gd fmla="val 1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 con reservas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5184648"/>
            <a:ext cx="3291840" cy="5943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Online mezclado con la tienda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3858768" y="5340096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069080" y="5184648"/>
            <a:ext cx="3840480" cy="59436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Despachar desde una bodega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7927848" y="5340096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8138160" y="5184648"/>
            <a:ext cx="3502152" cy="594360"/>
          </a:xfrm>
          <a:prstGeom prst="roundRect">
            <a:avLst>
              <a:gd fmla="val 1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Pedidos online desde bodega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48640" y="5888736"/>
            <a:ext cx="3291840" cy="5943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55A1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Traslados sin trazabilidad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3858768" y="6044184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069080" y="5888736"/>
            <a:ext cx="3840480" cy="59436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7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Recepción confirmada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7927848" y="6044184"/>
            <a:ext cx="1828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138160" y="5888736"/>
            <a:ext cx="3502152" cy="594360"/>
          </a:xfrm>
          <a:prstGeom prst="roundRect">
            <a:avLst>
              <a:gd fmla="val 1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Traslados con tránsito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135" name="Google Shape;135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6" name="Google Shape;136;p3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Tradicional y secuencial: se cierra una etapa antes de iniciar la siguiente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48640" y="196596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594360" y="1993392"/>
            <a:ext cx="20116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 Levantamiento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77240" y="2432304"/>
            <a:ext cx="1645919" cy="329184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651760" y="2304288"/>
            <a:ext cx="14630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795778" y="196596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2841498" y="1993392"/>
            <a:ext cx="20116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2 Diseño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3024378" y="2432304"/>
            <a:ext cx="1645919" cy="329184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898898" y="2304288"/>
            <a:ext cx="14630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042916" y="196596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5088636" y="1993392"/>
            <a:ext cx="20116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 Desarrollo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5271516" y="2432304"/>
            <a:ext cx="1645919" cy="329184"/>
          </a:xfrm>
          <a:prstGeom prst="roundRect">
            <a:avLst>
              <a:gd fmla="val 40000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7146036" y="2304288"/>
            <a:ext cx="14630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7290054" y="196596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7335774" y="1993392"/>
            <a:ext cx="20116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4 Pruebas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518654" y="2432304"/>
            <a:ext cx="1645919" cy="329184"/>
          </a:xfrm>
          <a:prstGeom prst="roundRect">
            <a:avLst>
              <a:gd fmla="val 4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9393174" y="2304288"/>
            <a:ext cx="14630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9537192" y="1965960"/>
            <a:ext cx="2103120" cy="9144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9582912" y="1993392"/>
            <a:ext cx="20116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 Cierre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9765792" y="2432304"/>
            <a:ext cx="1645919" cy="329184"/>
          </a:xfrm>
          <a:prstGeom prst="roundRect">
            <a:avLst>
              <a:gd fmla="val 4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548640" y="294436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Desarrollo por etapas de la demo: 5 de 7 terminadas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48640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técnica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156429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764219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5372008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Traslados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6979798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Pedido online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8587587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Etapa 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Aprobación remota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10195377" y="3273552"/>
            <a:ext cx="1463040" cy="71323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27425" spcFirstLastPara="1" rIns="2742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Etapa 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Publicación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548640" y="4114800"/>
            <a:ext cx="3593592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658368" y="4151376"/>
            <a:ext cx="3410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Tareas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658368" y="4590288"/>
            <a:ext cx="336499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Martín: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líder, arquitectura y backend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Renato: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calidad y pruebas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Benjamín: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dashboards y reportes</a:t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4297680" y="4114800"/>
            <a:ext cx="3593592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4407408" y="4151376"/>
            <a:ext cx="3410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4407408" y="4590288"/>
            <a:ext cx="33651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Carta Gantt por fases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Reuniones con la clienta (31/08 y 2/10)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GitHub: commits por etapa</a:t>
            </a:r>
            <a:endParaRPr/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8046720" y="4114800"/>
            <a:ext cx="3593592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8156448" y="4151376"/>
            <a:ext cx="3410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8156448" y="4590288"/>
            <a:ext cx="3364992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Cambio de alcance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(2/10): 1 tienda + bodega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Negocio sin sistema: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supuestos validados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Stock simultáneo: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pruebas de concurrencia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181" name="Google Shape;18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2" name="Google Shape;182;p4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Monolito modular en capas: una aplicación y una base de datos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48640" y="1965960"/>
            <a:ext cx="6949440" cy="100584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685800" y="19842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INTERFAZ WEB (Next.js)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685800" y="2331720"/>
            <a:ext cx="1261872" cy="5029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Backoffice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2039112" y="2331720"/>
            <a:ext cx="1261872" cy="5029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392424" y="2331720"/>
            <a:ext cx="1261872" cy="5029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Bodega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4745736" y="2331720"/>
            <a:ext cx="1261872" cy="5029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099048" y="2331720"/>
            <a:ext cx="1261872" cy="5029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Aprobaciones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3858768" y="2990088"/>
            <a:ext cx="329184" cy="1828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548640" y="3200400"/>
            <a:ext cx="6949440" cy="20116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685800" y="321868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MÓDULOS DE NEGOCIO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85800" y="3520440"/>
            <a:ext cx="1600200" cy="384048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2377440" y="3520440"/>
            <a:ext cx="1600200" cy="384048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returns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069080" y="3520440"/>
            <a:ext cx="1600200" cy="384048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5760720" y="3520440"/>
            <a:ext cx="1600200" cy="384048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approvals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2011680" y="3931920"/>
            <a:ext cx="256032" cy="1828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2377440" y="3904487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piden los cambios de stock</a:t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685800" y="4187952"/>
            <a:ext cx="6675120" cy="457200"/>
          </a:xfrm>
          <a:prstGeom prst="roundRect">
            <a:avLst>
              <a:gd fmla="val 15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inventory · InventoryService: único dueño del stock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685800" y="4727448"/>
            <a:ext cx="1261872" cy="36576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catalog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2039112" y="4727448"/>
            <a:ext cx="1261872" cy="36576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locations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3392424" y="4727448"/>
            <a:ext cx="1261872" cy="36576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4745736" y="4727448"/>
            <a:ext cx="1261872" cy="36576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6099048" y="4727448"/>
            <a:ext cx="1261872" cy="36576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18275" spcFirstLastPara="1" rIns="182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3858768" y="5230368"/>
            <a:ext cx="329184" cy="1828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48640" y="5440680"/>
            <a:ext cx="6949440" cy="502920"/>
          </a:xfrm>
          <a:prstGeom prst="roundRect">
            <a:avLst>
              <a:gd fmla="val 15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+ Prisma · historial inmutable de movimientos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548640" y="6016752"/>
            <a:ext cx="6949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interfaz llama a los módulos; los módulos piden stock a inventory dentro de una misma transacción.</a:t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7726679" y="1965960"/>
            <a:ext cx="3913632" cy="4617720"/>
          </a:xfrm>
          <a:prstGeom prst="roundRect">
            <a:avLst>
              <a:gd fmla="val 3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863840" y="2029968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7863840" y="2395728"/>
            <a:ext cx="3639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Equipo pequeño: simple de operar</a:t>
            </a:r>
            <a:endParaRPr/>
          </a:p>
          <a:p>
            <a:pPr indent="-182880" lvl="0" marL="182880" marR="0" rtl="0" algn="l">
              <a:spcBef>
                <a:spcPts val="20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Consistencia antes que disponibilidad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7863840" y="3328416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7863840" y="3694176"/>
            <a:ext cx="3639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Venta y stock en una transacción</a:t>
            </a:r>
            <a:endParaRPr/>
          </a:p>
          <a:p>
            <a:pPr indent="-182880" lvl="0" marL="182880" marR="0" rtl="0" algn="l">
              <a:spcBef>
                <a:spcPts val="20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único dueño del stock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7863840" y="4626864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7863840" y="4992624"/>
            <a:ext cx="36393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POS requiere internet</a:t>
            </a:r>
            <a:endParaRPr/>
          </a:p>
          <a:p>
            <a:pPr indent="-182880" lvl="0" marL="182880" marR="0" rtl="0" algn="l">
              <a:spcBef>
                <a:spcPts val="20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solo servicio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7863840" y="5696712"/>
            <a:ext cx="36393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Mejoras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7863840" y="6062472"/>
            <a:ext cx="36393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Char char="•"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Contingencia, boletas y tienda web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225" name="Google Shape;22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6" name="Google Shape;226;p5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Tecnologías por componente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TypeScript de punta a punta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548640" y="1965960"/>
            <a:ext cx="2697480" cy="310896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48640" y="1965960"/>
            <a:ext cx="2697480" cy="502920"/>
          </a:xfrm>
          <a:prstGeom prst="roundRect">
            <a:avLst>
              <a:gd fmla="val 2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640080" y="2578608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TypeScript estricto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Zod (validación)</a:t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40080" y="4206240"/>
            <a:ext cx="2514600" cy="77724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solo lenguaje y tipado</a:t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3346704" y="1965960"/>
            <a:ext cx="2697480" cy="310896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3346704" y="1965960"/>
            <a:ext cx="2697480" cy="502920"/>
          </a:xfrm>
          <a:prstGeom prst="roundRect">
            <a:avLst>
              <a:gd fmla="val 2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3438144" y="2578608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+ Next.js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Tailwind y shadcn/ui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Lector de códigos y ticket</a:t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3438144" y="4206240"/>
            <a:ext cx="2514600" cy="77724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Rápido de operar en caja</a:t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6144768" y="1965960"/>
            <a:ext cx="2697480" cy="310896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6144768" y="1965960"/>
            <a:ext cx="2697480" cy="502920"/>
          </a:xfrm>
          <a:prstGeom prst="roundRect">
            <a:avLst>
              <a:gd fmla="val 2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e integraciones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6236207" y="2578608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Server Actions internas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Sin integraciones externas aún</a:t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6236207" y="4206240"/>
            <a:ext cx="2514600" cy="77724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Pagos y envíos se registran a mano</a:t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8942832" y="1965960"/>
            <a:ext cx="2697480" cy="310896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942832" y="1965960"/>
            <a:ext cx="2697480" cy="502920"/>
          </a:xfrm>
          <a:prstGeom prst="roundRect">
            <a:avLst>
              <a:gd fmla="val 20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9034272" y="2578608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Prisma (migraciones)</a:t>
            </a:r>
            <a:endParaRPr/>
          </a:p>
          <a:p>
            <a:pPr indent="-182880" lvl="0" marL="182880" marR="0" rtl="0" algn="l"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Char char="•"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Restricción stock ≥ 0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9034272" y="4206240"/>
            <a:ext cx="2514600" cy="77724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Transacciones e integridad</a:t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548640" y="5212080"/>
            <a:ext cx="11091672" cy="13716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658368" y="523951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Herramientas de desarrollo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658368" y="55961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EN USO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1828800" y="5605272"/>
            <a:ext cx="996696" cy="329184"/>
          </a:xfrm>
          <a:prstGeom prst="roundRect">
            <a:avLst>
              <a:gd fmla="val 40000" name="adj"/>
            </a:avLst>
          </a:prstGeom>
          <a:solidFill>
            <a:srgbClr val="E2EFD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2935224" y="5605272"/>
            <a:ext cx="786384" cy="329184"/>
          </a:xfrm>
          <a:prstGeom prst="roundRect">
            <a:avLst>
              <a:gd fmla="val 40000" name="adj"/>
            </a:avLst>
          </a:prstGeom>
          <a:solidFill>
            <a:srgbClr val="E2EFD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pnpm</a:t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3831336" y="5605272"/>
            <a:ext cx="996696" cy="329184"/>
          </a:xfrm>
          <a:prstGeom prst="roundRect">
            <a:avLst>
              <a:gd fmla="val 40000" name="adj"/>
            </a:avLst>
          </a:prstGeom>
          <a:solidFill>
            <a:srgbClr val="E2EFD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4937760" y="5605272"/>
            <a:ext cx="996696" cy="329184"/>
          </a:xfrm>
          <a:prstGeom prst="roundRect">
            <a:avLst>
              <a:gd fmla="val 40000" name="adj"/>
            </a:avLst>
          </a:prstGeom>
          <a:solidFill>
            <a:srgbClr val="E2EFD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Vitest</a:t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6044184" y="5605272"/>
            <a:ext cx="2153412" cy="329184"/>
          </a:xfrm>
          <a:prstGeom prst="roundRect">
            <a:avLst>
              <a:gd fmla="val 40000" name="adj"/>
            </a:avLst>
          </a:prstGeom>
          <a:solidFill>
            <a:srgbClr val="E2EFDA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ESLint · Prettier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658368" y="60807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PREVISTO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1828800" y="6089904"/>
            <a:ext cx="1417320" cy="329184"/>
          </a:xfrm>
          <a:prstGeom prst="roundRect">
            <a:avLst>
              <a:gd fmla="val 40000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3355848" y="6089904"/>
            <a:ext cx="1837944" cy="329184"/>
          </a:xfrm>
          <a:prstGeom prst="roundRect">
            <a:avLst>
              <a:gd fmla="val 40000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5303520" y="6089904"/>
            <a:ext cx="1522476" cy="329184"/>
          </a:xfrm>
          <a:prstGeom prst="roundRect">
            <a:avLst>
              <a:gd fmla="val 40000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Better Auth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6935724" y="6089904"/>
            <a:ext cx="996696" cy="329184"/>
          </a:xfrm>
          <a:prstGeom prst="roundRect">
            <a:avLst>
              <a:gd fmla="val 40000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8042148" y="6089904"/>
            <a:ext cx="996696" cy="329184"/>
          </a:xfrm>
          <a:prstGeom prst="roundRect">
            <a:avLst>
              <a:gd fmla="val 40000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Sentry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3" name="Google Shape;2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265" name="Google Shape;26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6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Base de datos: modelo y entidades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stock es un saldo que siempre cuadra con un historial inmutable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548640" y="1965960"/>
            <a:ext cx="2103120" cy="2468880"/>
          </a:xfrm>
          <a:prstGeom prst="roundRect">
            <a:avLst>
              <a:gd fmla="val 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621792" y="2011680"/>
            <a:ext cx="19568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Ubicaciones y acceso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621792" y="2651760"/>
            <a:ext cx="195681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locations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settings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audit_log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2795778" y="1965960"/>
            <a:ext cx="2103120" cy="2468880"/>
          </a:xfrm>
          <a:prstGeom prst="roundRect">
            <a:avLst>
              <a:gd fmla="val 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2868930" y="2011680"/>
            <a:ext cx="19568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2868930" y="2651760"/>
            <a:ext cx="195681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product_variants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sizes · colors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5042916" y="1965960"/>
            <a:ext cx="2103120" cy="2468880"/>
          </a:xfrm>
          <a:prstGeom prst="roundRect">
            <a:avLst>
              <a:gd fmla="val 5000" name="adj"/>
            </a:avLst>
          </a:prstGeom>
          <a:solidFill>
            <a:srgbClr val="DCE6F7"/>
          </a:solidFill>
          <a:ln cap="flat" cmpd="sng" w="2222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5116068" y="2011680"/>
            <a:ext cx="19568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Inventario · núcleo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5116068" y="2651760"/>
            <a:ext cx="195681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stock_levels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inventory_movements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reservations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transfer_lines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7290054" y="1965960"/>
            <a:ext cx="2103120" cy="2468880"/>
          </a:xfrm>
          <a:prstGeom prst="roundRect">
            <a:avLst>
              <a:gd fmla="val 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7363206" y="2011680"/>
            <a:ext cx="19568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Ventas y caja</a:t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7363206" y="2651760"/>
            <a:ext cx="195681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sale_lines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cash_sessions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9537192" y="1965960"/>
            <a:ext cx="2103120" cy="2468880"/>
          </a:xfrm>
          <a:prstGeom prst="roundRect">
            <a:avLst>
              <a:gd fmla="val 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9610344" y="2011680"/>
            <a:ext cx="19568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Pedidos online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9610344" y="2651760"/>
            <a:ext cx="195681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online_orders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online_order_lines</a:t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548640" y="45720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RELACIONES CLAVE</a:t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548640" y="4956048"/>
            <a:ext cx="2240280" cy="530352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variante × ubicación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2825496" y="5084064"/>
            <a:ext cx="25603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3118104" y="4956048"/>
            <a:ext cx="1600200" cy="530352"/>
          </a:xfrm>
          <a:prstGeom prst="roundRect">
            <a:avLst>
              <a:gd fmla="val 15000" name="adj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stock_levels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4754880" y="5084064"/>
            <a:ext cx="256032" cy="27432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047488" y="4956048"/>
            <a:ext cx="2331720" cy="530352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inventory_movements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548640" y="566928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pedido online genera venta, reserva y, si falta en bodega, un traslado.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Cada traslado se cierra con recepción confirmada.</a:t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7863840" y="4572000"/>
            <a:ext cx="3776472" cy="20116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7973568" y="45994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Por qué este diseño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7973568" y="4965192"/>
            <a:ext cx="3566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Disponible = físico − reservado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Historial solo INSERT (kardex)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Dinero en CLP enteros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98" name="Google Shape;2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300" name="Google Shape;300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1" name="Google Shape;301;p7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Defensa técnica: seguridad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Riesgos y medidas: qué está implementado y qué está previsto</a:t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548640" y="1965960"/>
            <a:ext cx="3520440" cy="384048"/>
          </a:xfrm>
          <a:prstGeom prst="roundRect">
            <a:avLst>
              <a:gd fmla="val 2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160520" y="1965960"/>
            <a:ext cx="5577840" cy="384048"/>
          </a:xfrm>
          <a:prstGeom prst="roundRect">
            <a:avLst>
              <a:gd fmla="val 2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MEDIDA</a:t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9829800" y="1965960"/>
            <a:ext cx="1810512" cy="384048"/>
          </a:xfrm>
          <a:prstGeom prst="roundRect">
            <a:avLst>
              <a:gd fmla="val 2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548640" y="2423160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Vender dos veces la última unidad</a:t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160520" y="2423160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Actualización atómica y stock ≥ 0; probado con ventas simultáneas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9857232" y="2532888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548640" y="3118104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Alterar el historial de stock</a:t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4160520" y="3118104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Movimientos inmutables: solo INSERT</a:t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9857232" y="3227832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548640" y="3813048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Acceso a otra ubicación o rol</a:t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4160520" y="3813048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Permisos en el servidor por rol y ubicación</a:t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9857232" y="3922776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548640" y="4507992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Doble clic o reintento</a:t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4160520" y="4507992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Clave de idempotencia por operación</a:t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9857232" y="4617720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548640" y="5202936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Descuentos o reembolsos indebidos</a:t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4160520" y="5202936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Aprobación de Belén de uso único</a:t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9857232" y="5312664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Etapa 6</a:t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548640" y="5897879"/>
            <a:ext cx="3520440" cy="62179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Suplantación y pérdida de datos</a:t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4160520" y="5897879"/>
            <a:ext cx="5577840" cy="621792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27425" lIns="109725" spcFirstLastPara="1" rIns="1097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Autenticación real y respaldos; la demo usa ingreso simulado</a:t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9857232" y="6007607"/>
            <a:ext cx="1755648" cy="402336"/>
          </a:xfrm>
          <a:prstGeom prst="roundRect">
            <a:avLst>
              <a:gd fmla="val 4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0" lIns="36575" spcFirstLastPara="1" rIns="36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Previsto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29" name="Google Shape;3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331" name="Google Shape;33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2" name="Google Shape;332;p8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Modelo de negocio y propuesta de valor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Proyecto interno para un cliente real: Big Curvas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548640" y="19202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9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548640" y="2359152"/>
            <a:ext cx="5394960" cy="1298448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548640" y="2359152"/>
            <a:ext cx="109728" cy="12984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822960" y="243230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Belén, dueña</a:t>
            </a:r>
            <a:endParaRPr/>
          </a:p>
        </p:txBody>
      </p:sp>
      <p:sp>
        <p:nvSpPr>
          <p:cNvPr id="338" name="Google Shape;338;p8"/>
          <p:cNvSpPr txBox="1"/>
          <p:nvPr/>
        </p:nvSpPr>
        <p:spPr>
          <a:xfrm>
            <a:off x="822960" y="286207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Sabe dónde está cada prenda y aprobará descuentos desde el celular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548640" y="3776472"/>
            <a:ext cx="5394960" cy="1298448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548640" y="3776472"/>
            <a:ext cx="109728" cy="12984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822960" y="384962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Vendedoras</a:t>
            </a:r>
            <a:endParaRPr/>
          </a:p>
        </p:txBody>
      </p:sp>
      <p:sp>
        <p:nvSpPr>
          <p:cNvPr id="342" name="Google Shape;342;p8"/>
          <p:cNvSpPr txBox="1"/>
          <p:nvPr/>
        </p:nvSpPr>
        <p:spPr>
          <a:xfrm>
            <a:off x="822960" y="427939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Venta con lector y cierre de caja cuadrado</a:t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548640" y="5193792"/>
            <a:ext cx="5394960" cy="1298448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48640" y="5193792"/>
            <a:ext cx="109728" cy="12984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822960" y="5266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Clientas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822960" y="569671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Pedidos online que no se venden dos veces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161825" y="2734053"/>
            <a:ext cx="5468100" cy="1645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6271553" y="2761485"/>
            <a:ext cx="5285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Implementación (estimada)</a:t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6271553" y="3172965"/>
            <a:ext cx="1615500" cy="1097400"/>
          </a:xfrm>
          <a:prstGeom prst="roundRect">
            <a:avLst>
              <a:gd fmla="val 10000" name="adj"/>
            </a:avLst>
          </a:prstGeom>
          <a:solidFill>
            <a:srgbClr val="DCE6F7"/>
          </a:solidFill>
          <a:ln>
            <a:noFill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Demo validada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fines oct. 2026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7896137" y="3602732"/>
            <a:ext cx="183000" cy="23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8088161" y="3172965"/>
            <a:ext cx="1615500" cy="109740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Etapa 1 en producción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ene. 2027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9712745" y="3602732"/>
            <a:ext cx="183000" cy="23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9904769" y="3172965"/>
            <a:ext cx="1615500" cy="1097400"/>
          </a:xfrm>
          <a:prstGeom prst="roundRect">
            <a:avLst>
              <a:gd fmla="val 1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36575" spcFirstLastPara="1" rIns="365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MVP completo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55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feb. 2027</a:t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6161825" y="4471413"/>
            <a:ext cx="5468100" cy="16458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5875">
            <a:solidFill>
              <a:srgbClr val="8FAA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6271553" y="4498845"/>
            <a:ext cx="5285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Sostenibilidad económica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6271553" y="4864604"/>
            <a:ext cx="52395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1" i="0" lang="es-MX" sz="1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≈ 13 USD/mes </a:t>
            </a: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(~$13.000 CLP) en Render</a:t>
            </a:r>
            <a:endParaRPr/>
          </a:p>
          <a:p>
            <a:pPr indent="-182880" lvl="0" marL="182880" marR="0" rtl="0" algn="l"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Dentro del presupuesto (≤ ~$20.000/mes)</a:t>
            </a:r>
            <a:endParaRPr/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62" name="Google Shape;3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364" name="Google Shape;36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5" name="Google Shape;365;p9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Nivel de madurez del proyecto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Avance al 13 de octubre de 2026</a:t>
            </a:r>
            <a:endParaRPr/>
          </a:p>
        </p:txBody>
      </p:sp>
      <p:sp>
        <p:nvSpPr>
          <p:cNvPr id="367" name="Google Shape;367;p9"/>
          <p:cNvSpPr txBox="1"/>
          <p:nvPr/>
        </p:nvSpPr>
        <p:spPr>
          <a:xfrm>
            <a:off x="548640" y="19202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4400">
                <a:solidFill>
                  <a:srgbClr val="5482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s-MX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de 7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2331720" y="19202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etapas de la demo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393192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470916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548640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26364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704088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781812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8595360" y="2011680"/>
            <a:ext cx="713232" cy="548640"/>
          </a:xfrm>
          <a:prstGeom prst="roundRect">
            <a:avLst>
              <a:gd fmla="val 20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9326880" y="1920240"/>
            <a:ext cx="2313432" cy="731520"/>
          </a:xfrm>
          <a:prstGeom prst="roundRect">
            <a:avLst>
              <a:gd fmla="val 15000" name="adj"/>
            </a:avLst>
          </a:prstGeom>
          <a:solidFill>
            <a:srgbClr val="FFF2CC"/>
          </a:solidFill>
          <a:ln cap="flat" cmpd="sng" w="15875">
            <a:solidFill>
              <a:srgbClr val="FFC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264</a:t>
            </a: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pruebas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automáticas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548640" y="2788920"/>
            <a:ext cx="4251960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54823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48640" y="2788920"/>
            <a:ext cx="4251960" cy="438912"/>
          </a:xfrm>
          <a:prstGeom prst="roundRect">
            <a:avLst>
              <a:gd fmla="val 20000" name="adj"/>
            </a:avLst>
          </a:prstGeom>
          <a:solidFill>
            <a:srgbClr val="548235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 (demo)</a:t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640080" y="3310128"/>
            <a:ext cx="4069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Inventario con historial y concurrencia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POS con caja y ticket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Traslados con recepción escaneada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Pedidos online desde bodega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910328" y="2788920"/>
            <a:ext cx="3383280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FFC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910328" y="2788920"/>
            <a:ext cx="3383280" cy="438912"/>
          </a:xfrm>
          <a:prstGeom prst="roundRect">
            <a:avLst>
              <a:gd fmla="val 20000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5001768" y="3310128"/>
            <a:ext cx="3200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Acceso simulado, sin autenticación real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Reportes básicos, sin dashboards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Datos de ejemplo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8403336" y="2788920"/>
            <a:ext cx="3236976" cy="246888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222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8403336" y="2788920"/>
            <a:ext cx="3236976" cy="438912"/>
          </a:xfrm>
          <a:prstGeom prst="roundRect">
            <a:avLst>
              <a:gd fmla="val 2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/>
          </a:p>
        </p:txBody>
      </p:sp>
      <p:sp>
        <p:nvSpPr>
          <p:cNvPr id="385" name="Google Shape;385;p9"/>
          <p:cNvSpPr txBox="1"/>
          <p:nvPr/>
        </p:nvSpPr>
        <p:spPr>
          <a:xfrm>
            <a:off x="8494776" y="3310128"/>
            <a:ext cx="305409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Aprobaciones remotas (etapa 6)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Publicación (etapa 7)</a:t>
            </a:r>
            <a:endParaRPr/>
          </a:p>
          <a:p>
            <a:pPr indent="-182880" lvl="0" marL="182880" marR="0" rtl="0" algn="l"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Cambios y devoluciones</a:t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548640" y="5394960"/>
            <a:ext cx="5440680" cy="1188720"/>
          </a:xfrm>
          <a:prstGeom prst="roundRect">
            <a:avLst>
              <a:gd fmla="val 6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 txBox="1"/>
          <p:nvPr/>
        </p:nvSpPr>
        <p:spPr>
          <a:xfrm>
            <a:off x="658368" y="541324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658368" y="5760720"/>
            <a:ext cx="5257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POS solo con internet</a:t>
            </a:r>
            <a:endParaRPr/>
          </a:p>
          <a:p>
            <a:pPr indent="-182880" lvl="0" marL="182880" marR="0" rtl="0" algn="l">
              <a:spcBef>
                <a:spcPts val="2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Pedidos registrados a mano</a:t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6199632" y="5394960"/>
            <a:ext cx="5440680" cy="1188720"/>
          </a:xfrm>
          <a:prstGeom prst="roundRect">
            <a:avLst>
              <a:gd fmla="val 6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6309360" y="541324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/>
          </a:p>
        </p:txBody>
      </p:sp>
      <p:sp>
        <p:nvSpPr>
          <p:cNvPr id="391" name="Google Shape;391;p9"/>
          <p:cNvSpPr txBox="1"/>
          <p:nvPr/>
        </p:nvSpPr>
        <p:spPr>
          <a:xfrm>
            <a:off x="6309360" y="5760720"/>
            <a:ext cx="5257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Etapas 6 y 7, y validar con Belén</a:t>
            </a:r>
            <a:endParaRPr/>
          </a:p>
          <a:p>
            <a:pPr indent="-182880" lvl="0" marL="182880" marR="0" rtl="0" algn="l">
              <a:spcBef>
                <a:spcPts val="20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Char char="•"/>
            </a:pPr>
            <a:r>
              <a:rPr b="0" i="0" lang="es-MX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Producción ~ene. 2027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97" name="Google Shape;3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399" name="Google Shape;39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0" name="Google Shape;400;p10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Demostración (1 de 2)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Stock por ubicación y venta en la tienda</a:t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1097280" y="4873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Stock por ubicación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6199632" y="4919472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6748272" y="4873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POS: venta y ticket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548640" y="54864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FLUJO A MOSTRAR (≈ 1 min)</a:t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48640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Buscar una prenda en Stock</a:t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3118104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401568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Venderla en el POS</a:t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5971032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6254496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Ver el ticket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8823960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107424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Volver a Stock: bajó Rancagua</a:t>
            </a:r>
            <a:endParaRPr/>
          </a:p>
        </p:txBody>
      </p:sp>
      <p:pic>
        <p:nvPicPr>
          <p:cNvPr id="414" name="Google Shape;41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012" y="1902950"/>
            <a:ext cx="5309072" cy="297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9625" y="1886000"/>
            <a:ext cx="5231041" cy="293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21" name="Google Shape;4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“BIG CURVAS”</a:t>
            </a:r>
            <a:endParaRPr/>
          </a:p>
        </p:txBody>
      </p:sp>
      <p:cxnSp>
        <p:nvCxnSpPr>
          <p:cNvPr id="423" name="Google Shape;423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4" name="Google Shape;424;p11"/>
          <p:cNvSpPr txBox="1"/>
          <p:nvPr/>
        </p:nvSpPr>
        <p:spPr>
          <a:xfrm>
            <a:off x="365760" y="89611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Demostración (2 de 2)</a:t>
            </a:r>
            <a:endParaRPr/>
          </a:p>
        </p:txBody>
      </p:sp>
      <p:sp>
        <p:nvSpPr>
          <p:cNvPr id="425" name="Google Shape;425;p11"/>
          <p:cNvSpPr txBox="1"/>
          <p:nvPr/>
        </p:nvSpPr>
        <p:spPr>
          <a:xfrm>
            <a:off x="365760" y="14813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Traslado entre ubicaciones y pedido online</a:t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1097280" y="4873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Traslado Bodega → Tienda</a:t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6199632" y="4919472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29" name="Google Shape;429;p11"/>
          <p:cNvSpPr txBox="1"/>
          <p:nvPr/>
        </p:nvSpPr>
        <p:spPr>
          <a:xfrm>
            <a:off x="6748272" y="4873752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Pedido online desde bodega</a:t>
            </a:r>
            <a:endParaRPr/>
          </a:p>
        </p:txBody>
      </p:sp>
      <p:sp>
        <p:nvSpPr>
          <p:cNvPr id="430" name="Google Shape;430;p11"/>
          <p:cNvSpPr txBox="1"/>
          <p:nvPr/>
        </p:nvSpPr>
        <p:spPr>
          <a:xfrm>
            <a:off x="548640" y="54864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FLUJO A MOSTRAR (≈ 1 min)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548640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Enviar traslado desde Bodega</a:t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3118104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401568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Recibir en la tienda escaneando</a:t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5971032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254496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Pedido: confirmar pago y apartar</a:t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823960" y="6099048"/>
            <a:ext cx="2468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FA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9107424" y="5852160"/>
            <a:ext cx="2532888" cy="731520"/>
          </a:xfrm>
          <a:prstGeom prst="roundRect">
            <a:avLst>
              <a:gd fmla="val 15000" name="adj"/>
            </a:avLst>
          </a:prstGeom>
          <a:solidFill>
            <a:srgbClr val="EAF0F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Preparar y despachar</a:t>
            </a:r>
            <a:endParaRPr/>
          </a:p>
        </p:txBody>
      </p:sp>
      <p:pic>
        <p:nvPicPr>
          <p:cNvPr id="438" name="Google Shape;43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50" y="1943426"/>
            <a:ext cx="5292213" cy="28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2725" y="1943425"/>
            <a:ext cx="5187576" cy="281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445" name="Google Shape;4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2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2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 de 7 etapas operativas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s-MX" sz="2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Próximo: aprobaciones remotas, publicación y validación con la clienta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