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1675"/>
  <p:notesSz cx="6858000" cy="9144000"/>
  <p:embeddedFontLst>
    <p:embeddedFont>
      <p:font typeface="Quattrocento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i/51d2xERfnCnZ6KmRZ0Mh8Iod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QuattrocentoSans-regular.fntdata"/><Relationship Id="rId10" Type="http://schemas.openxmlformats.org/officeDocument/2006/relationships/slide" Target="slides/slide5.xml"/><Relationship Id="rId13" Type="http://schemas.openxmlformats.org/officeDocument/2006/relationships/font" Target="fonts/QuattrocentoSans-italic.fntdata"/><Relationship Id="rId12" Type="http://schemas.openxmlformats.org/officeDocument/2006/relationships/font" Target="fonts/Quattrocento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font" Target="fonts/Quattrocento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9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9692640" y="-2468880"/>
            <a:ext cx="5120640" cy="5120640"/>
          </a:xfrm>
          <a:prstGeom prst="ellipse">
            <a:avLst/>
          </a:prstGeom>
          <a:solidFill>
            <a:srgbClr val="C15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10698480" y="-1737360"/>
            <a:ext cx="3931920" cy="3931920"/>
          </a:xfrm>
          <a:prstGeom prst="ellipse">
            <a:avLst/>
          </a:prstGeom>
          <a:noFill/>
          <a:ln cap="flat" cmpd="sng" w="15225">
            <a:solidFill>
              <a:srgbClr val="E874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868680" y="6382512"/>
            <a:ext cx="128016" cy="128016"/>
          </a:xfrm>
          <a:prstGeom prst="ellipse">
            <a:avLst/>
          </a:prstGeom>
          <a:solidFill>
            <a:srgbClr val="C15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868680" y="1600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4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CAPSTONE · INGENIERÍA EN INFORMÁTICA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868680" y="2057400"/>
            <a:ext cx="96926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Sistema de Gestión 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Inventario Centralizado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868680" y="443484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FB8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Proyecto para Big Curvas — tienda física y canal online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868680" y="5138928"/>
            <a:ext cx="1920240" cy="41148"/>
          </a:xfrm>
          <a:prstGeom prst="rect">
            <a:avLst/>
          </a:prstGeom>
          <a:solidFill>
            <a:srgbClr val="C15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868680" y="541324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74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EQUIPO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868680" y="57150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Benjamín Rojas</a:t>
            </a:r>
            <a:r>
              <a:rPr b="0" i="0" lang="en-US" sz="1500" u="none" cap="none" strike="noStrike">
                <a:solidFill>
                  <a:srgbClr val="E874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· 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Renato Espina</a:t>
            </a:r>
            <a:r>
              <a:rPr b="0" i="0" lang="en-US" sz="1500" u="none" cap="none" strike="noStrike">
                <a:solidFill>
                  <a:srgbClr val="E874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· 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Martín Osorio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1088136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E67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86868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67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BIG CURVAS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868680" y="65836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150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 · EL PROBLEMA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868680" y="9601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C19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Planteamiento del Problema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868680" y="1810512"/>
            <a:ext cx="1463040" cy="45720"/>
          </a:xfrm>
          <a:prstGeom prst="rect">
            <a:avLst/>
          </a:prstGeom>
          <a:solidFill>
            <a:srgbClr val="C15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868680" y="228600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150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1691640" y="2240280"/>
            <a:ext cx="5852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C19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 canal online no cuenta con inventario propio: descuenta el stock directamente de la tienda física, generando descuadres.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1691640" y="3383280"/>
            <a:ext cx="5669280" cy="10972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868680" y="3493008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150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1691640" y="3447288"/>
            <a:ext cx="5852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C19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 producen errores y demoras en el despacho al mezclarse pedidos de tienda y de la web.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1691640" y="4590288"/>
            <a:ext cx="5669280" cy="10972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868680" y="4700016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150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1691640" y="4654296"/>
            <a:ext cx="5852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C19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 gestión actual depende de una página interna manual, sin automatización ni reportes de ventas.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7635240" y="2103120"/>
            <a:ext cx="3703320" cy="4206240"/>
          </a:xfrm>
          <a:prstGeom prst="roundRect">
            <a:avLst>
              <a:gd fmla="val 5000" name="adj"/>
            </a:avLst>
          </a:prstGeom>
          <a:solidFill>
            <a:srgbClr val="1C19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7973568" y="251460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74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CONTEXTO CLAVE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7973568" y="2926080"/>
            <a:ext cx="3291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r>
              <a:rPr b="1" i="0" lang="en-US" sz="4000" u="none" cap="none" strike="noStrike">
                <a:solidFill>
                  <a:srgbClr val="E874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→  </a:t>
            </a:r>
            <a:r>
              <a:rPr b="1" i="0" lang="en-US" sz="5800" u="none" cap="none" strike="noStrike">
                <a:solidFill>
                  <a:srgbClr val="E874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7973568" y="4041648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FB8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sucursal física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7973568" y="4498848"/>
            <a:ext cx="1234440" cy="41148"/>
          </a:xfrm>
          <a:prstGeom prst="rect">
            <a:avLst/>
          </a:prstGeom>
          <a:solidFill>
            <a:srgbClr val="C15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7973568" y="4663440"/>
            <a:ext cx="303580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BFB8A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 empresa cerrará su tienda de Providencia y operará con una sola sucursal (Rancagua) más el canal online, lo que hace urgente centralizar el control de stock.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1088136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E67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86868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67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BIG CURVAS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868680" y="65836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150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 · OBJETIVO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868680" y="9601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C19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Objetivo General</a:t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868680" y="1810512"/>
            <a:ext cx="1463040" cy="45720"/>
          </a:xfrm>
          <a:prstGeom prst="rect">
            <a:avLst/>
          </a:prstGeom>
          <a:solidFill>
            <a:srgbClr val="C15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868680" y="2606040"/>
            <a:ext cx="82296" cy="2377440"/>
          </a:xfrm>
          <a:prstGeom prst="rect">
            <a:avLst/>
          </a:prstGeom>
          <a:solidFill>
            <a:srgbClr val="C15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1280160" y="2606040"/>
            <a:ext cx="99669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1C19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Desarrollar un sistema </a:t>
            </a:r>
            <a:r>
              <a:rPr b="1" i="0" lang="en-US" sz="2800" u="none" cap="none" strike="noStrike">
                <a:solidFill>
                  <a:srgbClr val="C150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centralizado</a:t>
            </a:r>
            <a:r>
              <a:rPr b="0" i="0" lang="en-US" sz="2800" u="none" cap="none" strike="noStrike">
                <a:solidFill>
                  <a:srgbClr val="1C19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 gestión de inventario para </a:t>
            </a:r>
            <a:r>
              <a:rPr b="1" i="0" lang="en-US" sz="2800" u="none" cap="none" strike="noStrike">
                <a:solidFill>
                  <a:srgbClr val="C150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Big Curvas</a:t>
            </a:r>
            <a:r>
              <a:rPr b="0" i="0" lang="en-US" sz="2800" u="none" cap="none" strike="noStrike">
                <a:solidFill>
                  <a:srgbClr val="1C19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que integre el stock de la tienda física y el canal de venta online, permitiendo un </a:t>
            </a:r>
            <a:r>
              <a:rPr b="1" i="0" lang="en-US" sz="2800" u="none" cap="none" strike="noStrike">
                <a:solidFill>
                  <a:srgbClr val="C150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control unificado y automatizado</a:t>
            </a:r>
            <a:r>
              <a:rPr b="0" i="0" lang="en-US" sz="2800" u="none" cap="none" strike="noStrike">
                <a:solidFill>
                  <a:srgbClr val="1C19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del stock en tiempo real.</a:t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1280160" y="5806440"/>
            <a:ext cx="128016" cy="128016"/>
          </a:xfrm>
          <a:prstGeom prst="ellipse">
            <a:avLst/>
          </a:prstGeom>
          <a:solidFill>
            <a:srgbClr val="C15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1554480" y="574243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E67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 la visión general a los cuatro objetivos que la hacen posible.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1088136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E67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86868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67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BIG CURVAS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868680" y="65836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150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 · OBJETIVOS</a:t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868680" y="9601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C19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Objetivos Específicos</a:t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868680" y="1810512"/>
            <a:ext cx="1463040" cy="45720"/>
          </a:xfrm>
          <a:prstGeom prst="rect">
            <a:avLst/>
          </a:prstGeom>
          <a:solidFill>
            <a:srgbClr val="C15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868680" y="2194560"/>
            <a:ext cx="5056632" cy="196596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E3DC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1280160" y="254203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C150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/>
          </a:p>
        </p:txBody>
      </p:sp>
      <p:sp>
        <p:nvSpPr>
          <p:cNvPr id="144" name="Google Shape;144;p4"/>
          <p:cNvSpPr txBox="1"/>
          <p:nvPr/>
        </p:nvSpPr>
        <p:spPr>
          <a:xfrm>
            <a:off x="1280160" y="3063239"/>
            <a:ext cx="4343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C19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Centralizar el inventario entre tienda física y e-commerce mediante una base de datos integrada.</a:t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6263640" y="2194560"/>
            <a:ext cx="5056632" cy="196596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E3DC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6675120" y="254203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C150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6675120" y="3063239"/>
            <a:ext cx="4343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C19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Automatizar la actualización de stock en tiempo real con cada venta, en cualquier canal.</a:t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868680" y="4343400"/>
            <a:ext cx="5056632" cy="196596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E3DC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1280160" y="469087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C150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1280160" y="5212080"/>
            <a:ext cx="4343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C19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Reducir errores y demoras en el despacho de pedidos por falta de visibilidad del stock.</a:t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6263640" y="4343400"/>
            <a:ext cx="5056632" cy="196596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E3DC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6675120" y="469087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C150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6675120" y="5212080"/>
            <a:ext cx="4343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C19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Generar dashboards de ventas (diario, semanal, mensual) y análisis de productos para la toma de decisiones.</a:t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1088136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E67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/>
          </a:p>
        </p:txBody>
      </p:sp>
      <p:sp>
        <p:nvSpPr>
          <p:cNvPr id="155" name="Google Shape;155;p4"/>
          <p:cNvSpPr txBox="1"/>
          <p:nvPr/>
        </p:nvSpPr>
        <p:spPr>
          <a:xfrm>
            <a:off x="86868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67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BIG CURVAS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917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9692640" y="4206240"/>
            <a:ext cx="5120640" cy="5120640"/>
          </a:xfrm>
          <a:prstGeom prst="ellipse">
            <a:avLst/>
          </a:prstGeom>
          <a:solidFill>
            <a:srgbClr val="C15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10698480" y="4937760"/>
            <a:ext cx="3931920" cy="3931920"/>
          </a:xfrm>
          <a:prstGeom prst="ellipse">
            <a:avLst/>
          </a:prstGeom>
          <a:noFill/>
          <a:ln cap="flat" cmpd="sng" w="15225">
            <a:solidFill>
              <a:srgbClr val="E874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868680" y="6382512"/>
            <a:ext cx="128016" cy="128016"/>
          </a:xfrm>
          <a:prstGeom prst="ellipse">
            <a:avLst/>
          </a:prstGeom>
          <a:solidFill>
            <a:srgbClr val="C15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868680" y="1600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4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 · CIERRE</a:t>
            </a:r>
            <a:endParaRPr/>
          </a:p>
        </p:txBody>
      </p:sp>
      <p:sp>
        <p:nvSpPr>
          <p:cNvPr id="165" name="Google Shape;165;p5"/>
          <p:cNvSpPr txBox="1"/>
          <p:nvPr/>
        </p:nvSpPr>
        <p:spPr>
          <a:xfrm>
            <a:off x="868680" y="2148840"/>
            <a:ext cx="96926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Muchas gracias</a:t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868680" y="3977639"/>
            <a:ext cx="1920240" cy="41148"/>
          </a:xfrm>
          <a:prstGeom prst="rect">
            <a:avLst/>
          </a:prstGeom>
          <a:solidFill>
            <a:srgbClr val="C15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868680" y="42519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Benjamín Rojas</a:t>
            </a:r>
            <a:r>
              <a:rPr b="0" i="0" lang="en-US" sz="1500" u="none" cap="none" strike="noStrike">
                <a:solidFill>
                  <a:srgbClr val="E874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· 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Renato Espina</a:t>
            </a:r>
            <a:r>
              <a:rPr b="0" i="0" lang="en-US" sz="1500" u="none" cap="none" strike="noStrike">
                <a:solidFill>
                  <a:srgbClr val="E874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· 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Martín Osorio</a:t>
            </a:r>
            <a:endParaRPr/>
          </a:p>
        </p:txBody>
      </p:sp>
      <p:sp>
        <p:nvSpPr>
          <p:cNvPr id="168" name="Google Shape;168;p5"/>
          <p:cNvSpPr txBox="1"/>
          <p:nvPr/>
        </p:nvSpPr>
        <p:spPr>
          <a:xfrm>
            <a:off x="868680" y="47548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E67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Big Curvas · Sistema de Gestión de Inventario Centralizado</a:t>
            </a:r>
            <a:endParaRPr/>
          </a:p>
        </p:txBody>
      </p:sp>
      <p:sp>
        <p:nvSpPr>
          <p:cNvPr id="169" name="Google Shape;169;p5"/>
          <p:cNvSpPr txBox="1"/>
          <p:nvPr/>
        </p:nvSpPr>
        <p:spPr>
          <a:xfrm>
            <a:off x="1088136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E67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/>
          </a:p>
        </p:txBody>
      </p:sp>
      <p:sp>
        <p:nvSpPr>
          <p:cNvPr id="170" name="Google Shape;170;p5"/>
          <p:cNvSpPr txBox="1"/>
          <p:nvPr/>
        </p:nvSpPr>
        <p:spPr>
          <a:xfrm>
            <a:off x="86868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67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BIG CURVAS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